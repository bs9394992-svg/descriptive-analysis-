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</ns0:sldIdLst>
  <ns0:sldSz cx="12192000" cy="6858000" type="screen4x3"/>
  <ns0:notesSz cx="6858000" cy="9144000"/>
  <ns0:embeddedFontLst>
    <ns0:embeddedFont>
      <ns0:font typeface="Inter"/>
      <ns0:bold ns1:id="rIdFont14"/>
      <ns0:regular ns1:id="rIdFont15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Font14" Type="http://schemas.openxmlformats.org/officeDocument/2006/relationships/font" Target="fonts/87a308aa-c5e5-44a5-86da-144d2c6f4b94.fntdata" /><ns0:Relationship Id="rIdFont15" Type="http://schemas.openxmlformats.org/officeDocument/2006/relationships/font" Target="fonts/4498d0bb-5ca8-4935-b0ff-a63b26904733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4845248"/>
            <a:ext cx="762000" cy="57150"/>
          </a:xfrm>
          <a:prstGeom prst="rect">
            <a:avLst/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955601"/>
            <a:ext cx="11430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E11B"/>
                </a:solidFill>
                <a:latin typeface="Inter"/>
              </a:rPr>
              <a:t>OPERATIONS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374701"/>
            <a:ext cx="9101137" cy="1508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b="1" sz="5400" i="0" u="none">
                <a:solidFill>
                  <a:srgbClr val="FFFFFF"/>
                </a:solidFill>
                <a:latin typeface="Inter"/>
              </a:rPr>
              <a:t>Warehouse Performance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111823"/>
            <a:ext cx="71437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A0A0A0"/>
                </a:solidFill>
                <a:latin typeface="Inter"/>
              </a:rPr>
              <a:t>Logistics, fulfillment, and delivery metrics.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33475"/>
            <a:ext cx="10972800" cy="52673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981200"/>
            <a:ext cx="4876800" cy="35718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45720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21212"/>
                </a:solidFill>
                <a:latin typeface="Inter"/>
              </a:rPr>
              <a:t>Source Dashboard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1500" y="3348037"/>
            <a:ext cx="19050" cy="11430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91450" y="3348037"/>
            <a:ext cx="19050" cy="11430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-381000" y="2290762"/>
            <a:ext cx="129540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121212"/>
                </a:solidFill>
                <a:latin typeface="Inter"/>
              </a:rPr>
              <a:t>Core Operational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737" y="3271837"/>
            <a:ext cx="4238625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b="1" sz="7200" i="0" u="none">
                <a:solidFill>
                  <a:srgbClr val="2874F0"/>
                </a:solidFill>
                <a:latin typeface="Inter"/>
              </a:rPr>
              <a:t>2,000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737" y="4338637"/>
            <a:ext cx="42386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666666"/>
                </a:solidFill>
                <a:latin typeface="Inter"/>
              </a:rPr>
              <a:t>Total Shipments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6687" y="3271837"/>
            <a:ext cx="4238625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b="1" sz="7200" i="0" u="none">
                <a:solidFill>
                  <a:srgbClr val="121212"/>
                </a:solidFill>
                <a:latin typeface="Inter"/>
              </a:rPr>
              <a:t>88.7</a:t>
            </a:r>
            <a:r>
              <a:rPr b="1" sz="4800" i="0" u="none">
                <a:solidFill>
                  <a:srgbClr val="121212"/>
                </a:solidFill>
                <a:latin typeface="Inter"/>
              </a:rPr>
              <a:t>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6687" y="4338637"/>
            <a:ext cx="42386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666666"/>
                </a:solidFill>
                <a:latin typeface="Inter"/>
              </a:rPr>
              <a:t>Delivered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86637" y="3271837"/>
            <a:ext cx="4238625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b="1" sz="7200" i="0" u="none">
                <a:solidFill>
                  <a:srgbClr val="D93025"/>
                </a:solidFill>
                <a:latin typeface="Inter"/>
              </a:rPr>
              <a:t>5.3</a:t>
            </a:r>
            <a:r>
              <a:rPr b="1" sz="4800" i="0" u="none">
                <a:solidFill>
                  <a:srgbClr val="D93025"/>
                </a:solidFill>
                <a:latin typeface="Inter"/>
              </a:rPr>
              <a:t>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86637" y="4338637"/>
            <a:ext cx="42386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666666"/>
                </a:solidFill>
                <a:latin typeface="Inter"/>
              </a:rPr>
              <a:t>RTO Rate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263258" y="2209800"/>
            <a:ext cx="3557141" cy="304800"/>
          </a:xfrm>
          <a:prstGeom prst="roundRect">
            <a:avLst>
              <a:gd name="adj" fmla="val 50000"/>
            </a:avLst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63258" y="2743200"/>
            <a:ext cx="3557141" cy="304800"/>
          </a:xfrm>
          <a:prstGeom prst="roundRect">
            <a:avLst>
              <a:gd name="adj" fmla="val 50000"/>
            </a:avLst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263258" y="3276600"/>
            <a:ext cx="3557141" cy="304800"/>
          </a:xfrm>
          <a:prstGeom prst="roundRect">
            <a:avLst>
              <a:gd name="adj" fmla="val 50000"/>
            </a:avLst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63258" y="3810000"/>
            <a:ext cx="3557141" cy="304800"/>
          </a:xfrm>
          <a:prstGeom prst="roundRect">
            <a:avLst>
              <a:gd name="adj" fmla="val 50000"/>
            </a:avLst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63258" y="4343400"/>
            <a:ext cx="3557141" cy="304800"/>
          </a:xfrm>
          <a:prstGeom prst="roundRect">
            <a:avLst>
              <a:gd name="adj" fmla="val 50000"/>
            </a:avLst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63258" y="2209800"/>
            <a:ext cx="1109811" cy="304800"/>
          </a:xfrm>
          <a:prstGeom prst="rect">
            <a:avLst/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63258" y="2743200"/>
            <a:ext cx="1063525" cy="304800"/>
          </a:xfrm>
          <a:prstGeom prst="rect">
            <a:avLst/>
          </a:prstGeom>
          <a:solidFill>
            <a:srgbClr val="5FB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63258" y="3276600"/>
            <a:ext cx="736252" cy="30480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63258" y="3810000"/>
            <a:ext cx="387697" cy="304800"/>
          </a:xfrm>
          <a:prstGeom prst="rect">
            <a:avLst/>
          </a:prstGeom>
          <a:solidFill>
            <a:srgbClr val="E91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63258" y="4343400"/>
            <a:ext cx="259556" cy="304800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2274540"/>
            <a:ext cx="588819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874F0"/>
                </a:solidFill>
                <a:latin typeface="Inter"/>
              </a:rPr>
              <a:t>PRODUCT VOLUME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2617440"/>
            <a:ext cx="5046099" cy="1508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121212"/>
                </a:solidFill>
                <a:latin typeface="Inter"/>
              </a:rPr>
              <a:t>Fashion &amp; Electronics Lead Demand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4354710"/>
            <a:ext cx="588819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555555"/>
                </a:solidFill>
                <a:latin typeface="Inter"/>
              </a:rPr>
              <a:t>Combined 61% of total warehouse throughput.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29758" y="2262187"/>
            <a:ext cx="1666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21212"/>
                </a:solidFill>
                <a:latin typeface="Inter"/>
              </a:rPr>
              <a:t>Fashion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34650" y="2247900"/>
            <a:ext cx="10477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1500" i="0" u="none">
                <a:solidFill>
                  <a:srgbClr val="121212"/>
                </a:solidFill>
                <a:latin typeface="Inter"/>
              </a:rPr>
              <a:t>31.2%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29758" y="2795587"/>
            <a:ext cx="1666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21212"/>
                </a:solidFill>
                <a:latin typeface="Inter"/>
              </a:rPr>
              <a:t>Electronics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34650" y="2781300"/>
            <a:ext cx="10477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1500" i="0" u="none">
                <a:solidFill>
                  <a:srgbClr val="121212"/>
                </a:solidFill>
                <a:latin typeface="Inter"/>
              </a:rPr>
              <a:t>29.9%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29758" y="3328987"/>
            <a:ext cx="1666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21212"/>
                </a:solidFill>
                <a:latin typeface="Inter"/>
              </a:rPr>
              <a:t>Grocery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34650" y="3314700"/>
            <a:ext cx="10477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1500" i="0" u="none">
                <a:solidFill>
                  <a:srgbClr val="121212"/>
                </a:solidFill>
                <a:latin typeface="Inter"/>
              </a:rPr>
              <a:t>20.7%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29758" y="3862387"/>
            <a:ext cx="1666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21212"/>
                </a:solidFill>
                <a:latin typeface="Inter"/>
              </a:rPr>
              <a:t>Home Decor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34650" y="3848100"/>
            <a:ext cx="10477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1500" i="0" u="none">
                <a:solidFill>
                  <a:srgbClr val="121212"/>
                </a:solidFill>
                <a:latin typeface="Inter"/>
              </a:rPr>
              <a:t>10.9%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29758" y="4395787"/>
            <a:ext cx="1666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21212"/>
                </a:solidFill>
                <a:latin typeface="Inter"/>
              </a:rPr>
              <a:t>Appliances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34650" y="4381500"/>
            <a:ext cx="10477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1500" i="0" u="none">
                <a:solidFill>
                  <a:srgbClr val="121212"/>
                </a:solidFill>
                <a:latin typeface="Inter"/>
              </a:rPr>
              <a:t>7.3%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09850"/>
            <a:ext cx="3454449" cy="304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2638425"/>
            <a:ext cx="3454449" cy="2990850"/>
          </a:xfrm>
          <a:prstGeom prst="roundRect">
            <a:avLst>
              <a:gd name="adj" fmla="val 509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2638425"/>
            <a:ext cx="3454449" cy="2990850"/>
          </a:xfrm>
          <a:prstGeom prst="roundRect">
            <a:avLst>
              <a:gd name="adj" fmla="val 509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609850"/>
            <a:ext cx="3454449" cy="57150"/>
          </a:xfrm>
          <a:prstGeom prst="rect">
            <a:avLst/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000" y="3124200"/>
            <a:ext cx="5715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5975" y="3095625"/>
            <a:ext cx="40005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6649" y="3095625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-381000" y="762000"/>
            <a:ext cx="129540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700" i="0" u="none">
                <a:solidFill>
                  <a:srgbClr val="121212"/>
                </a:solidFill>
                <a:latin typeface="Inter"/>
              </a:rPr>
              <a:t>Logistics Partner Utilization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381000" y="1333500"/>
            <a:ext cx="12954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666666"/>
                </a:solidFill>
                <a:latin typeface="Inter"/>
              </a:rPr>
              <a:t>Ecom handles massive majority of outbound volume.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917" y="3810000"/>
            <a:ext cx="333381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121212"/>
                </a:solidFill>
                <a:latin typeface="Inter"/>
              </a:rPr>
              <a:t>Ecom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293" y="4286250"/>
            <a:ext cx="3175062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2874F0"/>
                </a:solidFill>
                <a:latin typeface="Inter"/>
              </a:rPr>
              <a:t>~1,200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293" y="5000625"/>
            <a:ext cx="3175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555555"/>
                </a:solidFill>
                <a:latin typeface="Inter"/>
              </a:rPr>
              <a:t>Dominant carrier volume.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9166" y="3781425"/>
            <a:ext cx="333381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121212"/>
                </a:solidFill>
                <a:latin typeface="Inter"/>
              </a:rPr>
              <a:t>Delhivery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8543" y="4257675"/>
            <a:ext cx="3175062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121212"/>
                </a:solidFill>
                <a:latin typeface="Inter"/>
              </a:rPr>
              <a:t>~400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8543" y="4972050"/>
            <a:ext cx="3175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555555"/>
                </a:solidFill>
                <a:latin typeface="Inter"/>
              </a:rPr>
              <a:t>Secondary network partner.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8416" y="3781425"/>
            <a:ext cx="333381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121212"/>
                </a:solidFill>
                <a:latin typeface="Inter"/>
              </a:rPr>
              <a:t>Others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7793" y="4257675"/>
            <a:ext cx="3175062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121212"/>
                </a:solidFill>
                <a:latin typeface="Inter"/>
              </a:rPr>
              <a:t>&lt; 350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7793" y="4972050"/>
            <a:ext cx="3175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555555"/>
                </a:solidFill>
                <a:latin typeface="Inter"/>
              </a:rPr>
              <a:t>BlueDart &amp; XpressBees.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F0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F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061370"/>
            <a:ext cx="171450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442370"/>
            <a:ext cx="171450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4061370"/>
            <a:ext cx="190500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4442370"/>
            <a:ext cx="190500" cy="2000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2048916"/>
            <a:ext cx="64008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2E7D32"/>
                </a:solidFill>
                <a:latin typeface="Inter"/>
              </a:rPr>
              <a:t>Prepaid Mode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477541"/>
            <a:ext cx="4972050" cy="1340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b="1" sz="4800" i="0" u="none">
                <a:solidFill>
                  <a:srgbClr val="121212"/>
                </a:solidFill>
                <a:latin typeface="Inter"/>
              </a:rPr>
              <a:t>High Delivery Success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5600" y="2048916"/>
            <a:ext cx="54864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D93025"/>
                </a:solidFill>
                <a:latin typeface="Inter"/>
              </a:rPr>
              <a:t>Cash On Delivery (COD)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2477541"/>
            <a:ext cx="4972050" cy="1340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b="1" sz="4800" i="0" u="none">
                <a:solidFill>
                  <a:srgbClr val="121212"/>
                </a:solidFill>
                <a:latin typeface="Inter"/>
              </a:rPr>
              <a:t>45.5% Volume Share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47083"/>
            <a:ext cx="57912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2874F0"/>
                </a:solidFill>
                <a:latin typeface="Inter"/>
              </a:rPr>
              <a:t>Dominant payment method.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28083"/>
            <a:ext cx="57912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2874F0"/>
                </a:solidFill>
                <a:latin typeface="Inter"/>
              </a:rPr>
              <a:t>Negligible Return-to-Origin.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0400" y="4047083"/>
            <a:ext cx="51816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2874F0"/>
                </a:solidFill>
                <a:latin typeface="Inter"/>
              </a:rPr>
              <a:t>Elevated RTO risk factor.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0400" y="4428083"/>
            <a:ext cx="51816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2874F0"/>
                </a:solidFill>
                <a:latin typeface="Inter"/>
              </a:rPr>
              <a:t>Requires strict address verification.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91200" y="4901505"/>
            <a:ext cx="609600" cy="38100"/>
          </a:xfrm>
          <a:prstGeom prst="rect">
            <a:avLst/>
          </a:prstGeom>
          <a:solidFill>
            <a:srgbClr val="FFE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100" y="1918394"/>
            <a:ext cx="685800" cy="609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45468" y="2832794"/>
            <a:ext cx="8501062" cy="639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b="1" sz="4200" i="0" u="none">
                <a:solidFill>
                  <a:srgbClr val="FFFFFF"/>
                </a:solidFill>
                <a:latin typeface="Inter"/>
              </a:rPr>
              <a:t>Primary Destination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8812" y="3701355"/>
            <a:ext cx="8334375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400" i="0" u="none">
                <a:solidFill>
                  <a:srgbClr val="A0A0A0"/>
                </a:solidFill>
                <a:latin typeface="Inter"/>
              </a:rPr>
              <a:t>Lucknow leads incoming shipment volumes across top 8 national destinations.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